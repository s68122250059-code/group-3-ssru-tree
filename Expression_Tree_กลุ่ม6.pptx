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Execution Time vs N (ms)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Execution Time (ms)</c:v>
                </c:pt>
              </c:strCache>
            </c:strRef>
          </c:tx>
          <c:spPr>
            <a:solidFill>
              <a:srgbClr val="F2B705"/>
            </a:solidFill>
            <a:ln w="38100" cap="flat">
              <a:solidFill>
                <a:srgbClr val="F2B705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2B705"/>
              </a:solidFill>
              <a:ln w="9525" cap="flat">
                <a:solidFill>
                  <a:srgbClr val="F2B70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100</c:v>
                  </c:pt>
                  <c:pt idx="2">
                    <c:v>1,000</c:v>
                  </c:pt>
                  <c:pt idx="3">
                    <c:v>10,000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0.15</c:v>
                </c:pt>
                <c:pt idx="1">
                  <c:v>0.42</c:v>
                </c:pt>
                <c:pt idx="2">
                  <c:v>2.05</c:v>
                </c:pt>
                <c:pt idx="3">
                  <c:v>11.8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A93B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l"/>
        <c:majorGridlines>
          <c:spPr>
            <a:ln w="12700" cap="flat">
              <a:solidFill>
                <a:srgbClr val="2A346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A93B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Memory Usage vs N (KB)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Memory Usage (KB)</c:v>
                </c:pt>
              </c:strCache>
            </c:strRef>
          </c:tx>
          <c:spPr>
            <a:solidFill>
              <a:srgbClr val="35C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100</c:v>
                  </c:pt>
                  <c:pt idx="2">
                    <c:v>1,000</c:v>
                  </c:pt>
                  <c:pt idx="3">
                    <c:v>10,000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512</c:v>
                </c:pt>
                <c:pt idx="1">
                  <c:v>1180</c:v>
                </c:pt>
                <c:pt idx="2">
                  <c:v>4450</c:v>
                </c:pt>
                <c:pt idx="3">
                  <c:v>17900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A93B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46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A93B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0"/>
            <a:ext cx="2743200" cy="2743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AND ANALYSIS  ·  กลุ่มที่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การประมวลผลและการสร้าง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 Tree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ระบบประมวลผลนิพจน์คณิตศาสตร์ด้วยโครงสร้างข้อมูล Binary Tree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พัฒนาโดยภาษา Java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35C7B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709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 · Stack / Postfix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4709160"/>
            <a:ext cx="3383280" cy="566928"/>
          </a:xfrm>
          <a:prstGeom prst="roundRect">
            <a:avLst>
              <a:gd name="adj" fmla="val 50000"/>
            </a:avLst>
          </a:prstGeom>
          <a:solidFill>
            <a:srgbClr val="F9636B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470916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B · Recursion / Prefix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217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วิชาการออกแบบและวิเคราะห์อัลกอริทึม  (Algorithm Design and Analysis)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กลุ่มที่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สมาชิกกลุ่ม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548640" cy="4114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61388"/>
            <a:ext cx="512064" cy="512064"/>
          </a:xfrm>
          <a:prstGeom prst="ellipse">
            <a:avLst/>
          </a:prstGeom>
          <a:solidFill>
            <a:srgbClr val="35C7B8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613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78308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นายเนติธร กาฬภักดี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1961388"/>
            <a:ext cx="512064" cy="512064"/>
          </a:xfrm>
          <a:prstGeom prst="ellipse">
            <a:avLst/>
          </a:prstGeom>
          <a:solidFill>
            <a:srgbClr val="F9636B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9613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178308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นายนิธิศ สุขอยู่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907792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3086100"/>
            <a:ext cx="512064" cy="512064"/>
          </a:xfrm>
          <a:prstGeom prst="ellipse">
            <a:avLst/>
          </a:prstGeom>
          <a:solidFill>
            <a:srgbClr val="35C7B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0861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2907792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นายพีรพัฒน์ ใคร่ในธรรม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2907792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73368" y="3086100"/>
            <a:ext cx="512064" cy="512064"/>
          </a:xfrm>
          <a:prstGeom prst="ellipse">
            <a:avLst/>
          </a:prstGeom>
          <a:solidFill>
            <a:srgbClr val="F9636B"/>
          </a:solidFill>
          <a:ln/>
        </p:spPr>
      </p:sp>
      <p:sp>
        <p:nvSpPr>
          <p:cNvPr id="19" name="Text 17"/>
          <p:cNvSpPr/>
          <p:nvPr/>
        </p:nvSpPr>
        <p:spPr>
          <a:xfrm>
            <a:off x="6373368" y="30861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40880" y="2907792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นางสาวทิพวรรณ พิมพ์มาตร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032504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" y="4210812"/>
            <a:ext cx="512064" cy="512064"/>
          </a:xfrm>
          <a:prstGeom prst="ellipse">
            <a:avLst/>
          </a:prstGeom>
          <a:solidFill>
            <a:srgbClr val="35C7B8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42108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8760" y="4032504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นายภูรินท์ ภาชวงษ์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72200" y="4032504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73368" y="4210812"/>
            <a:ext cx="512064" cy="512064"/>
          </a:xfrm>
          <a:prstGeom prst="ellipse">
            <a:avLst/>
          </a:prstGeom>
          <a:solidFill>
            <a:srgbClr val="F9636B"/>
          </a:solidFill>
          <a:ln/>
        </p:spPr>
      </p:sp>
      <p:sp>
        <p:nvSpPr>
          <p:cNvPr id="27" name="Text 25"/>
          <p:cNvSpPr/>
          <p:nvPr/>
        </p:nvSpPr>
        <p:spPr>
          <a:xfrm>
            <a:off x="6373368" y="42108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0880" y="4032504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นายภูมิภัทร ศรีสุวรรณ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" y="515721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" y="5335524"/>
            <a:ext cx="512064" cy="512064"/>
          </a:xfrm>
          <a:prstGeom prst="ellipse">
            <a:avLst/>
          </a:prstGeom>
          <a:solidFill>
            <a:srgbClr val="35C7B8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" y="53355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08760" y="5157216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นางสาวกัญญาดา ใจบาน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การวิเคราะห์ปัญหา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การประมวลผลนิพจน์คณิตศาสตร์ในระบบคอมพิวเตอร์มีความซับซ้อน เนื่องจากกฎลำดับความสำคัญของเครื่องหมาย (Operator Precedence) และการจัดกลุ่มด้วยวงเล็บ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โครงสร้างข้อมูล Expression Tree ซึ่งเป็น Binary Tree ชนิดหนึ่ง ถูกนำมาใช้เพื่อแปลงนิพจน์ให้อยู่ในรูปของโครงสร้างต้นไม้ ทำให้สามารถประมวลผล แปลงรูปแบบนิพจน์ (Infix, Prefix, Postfix) และคำนวณผลลัพธ์ได้อย่างถูกต้องแม่นยำ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1783080"/>
            <a:ext cx="4892040" cy="1234440"/>
          </a:xfrm>
          <a:prstGeom prst="roundRect">
            <a:avLst>
              <a:gd name="adj" fmla="val 7407"/>
            </a:avLst>
          </a:prstGeom>
          <a:solidFill>
            <a:srgbClr val="141A45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1892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0" y="22402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((8+2)*(9-5))/2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75120" y="3246120"/>
            <a:ext cx="4892040" cy="1234440"/>
          </a:xfrm>
          <a:prstGeom prst="roundRect">
            <a:avLst>
              <a:gd name="adj" fmla="val 7407"/>
            </a:avLst>
          </a:prstGeom>
          <a:solidFill>
            <a:srgbClr val="141A45"/>
          </a:solidFill>
          <a:ln w="19050">
            <a:solidFill>
              <a:srgbClr val="35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3355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5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37033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2 + 9 5 - * 2 /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75120" y="4709160"/>
            <a:ext cx="4892040" cy="1234440"/>
          </a:xfrm>
          <a:prstGeom prst="roundRect">
            <a:avLst>
              <a:gd name="adj" fmla="val 7407"/>
            </a:avLst>
          </a:prstGeom>
          <a:solidFill>
            <a:srgbClr val="141A45"/>
          </a:solidFill>
          <a:ln w="19050">
            <a:solidFill>
              <a:srgbClr val="F963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4818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51663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* + 8 2 - 9 5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การกำหนดข้อมูลที่จัดเก็บใน Node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548640" cy="4114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37744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90800" y="2560320"/>
            <a:ext cx="0" cy="1645920"/>
          </a:xfrm>
          <a:prstGeom prst="line">
            <a:avLst/>
          </a:prstGeom>
          <a:noFill/>
          <a:ln w="12700">
            <a:solidFill>
              <a:srgbClr val="8A9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92880" y="2560320"/>
            <a:ext cx="0" cy="1645920"/>
          </a:xfrm>
          <a:prstGeom prst="line">
            <a:avLst/>
          </a:prstGeom>
          <a:noFill/>
          <a:ln w="12700">
            <a:solidFill>
              <a:srgbClr val="8A9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606040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C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063240"/>
            <a:ext cx="140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90800" y="2606040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90800" y="3017520"/>
            <a:ext cx="140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992880" y="2606040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92880" y="3063240"/>
            <a:ext cx="140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4572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 Node หนึ่งหน่วยของ Expression Tree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2B705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2940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9400" y="2286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จัดเก็บตัวเลข (Operand) หรือเครื่องหมายทางคณิตศาสตร์ (Operator)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2926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5C7B8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2880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29400" y="3200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ตัวชี้ไปยังโหนดลูกฝั่งซ้าย (Left Child Pointer)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0" y="3840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9636B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29400" y="3794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29400" y="4114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ตัวชี้ไปยังโหนดลูกฝั่งขวา (Right Child Pointer)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การวาดโครงสร้าง Tree จากข้อมูลตัวอย่าง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((8+2)*(9-5))/2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flipH="1">
            <a:off x="4206240" y="2386584"/>
            <a:ext cx="1828800" cy="621792"/>
          </a:xfrm>
          <a:prstGeom prst="line">
            <a:avLst/>
          </a:prstGeom>
          <a:noFill/>
          <a:ln w="25400">
            <a:solidFill>
              <a:srgbClr val="8A9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2386584"/>
            <a:ext cx="2560320" cy="621792"/>
          </a:xfrm>
          <a:prstGeom prst="line">
            <a:avLst/>
          </a:prstGeom>
          <a:noFill/>
          <a:ln w="25400">
            <a:solidFill>
              <a:srgbClr val="8A9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2926080" y="3483864"/>
            <a:ext cx="1280160" cy="621792"/>
          </a:xfrm>
          <a:prstGeom prst="line">
            <a:avLst/>
          </a:prstGeom>
          <a:noFill/>
          <a:ln w="25400">
            <a:solidFill>
              <a:srgbClr val="8A9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3483864"/>
            <a:ext cx="1280160" cy="621792"/>
          </a:xfrm>
          <a:prstGeom prst="line">
            <a:avLst/>
          </a:prstGeom>
          <a:noFill/>
          <a:ln w="25400">
            <a:solidFill>
              <a:srgbClr val="8A9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2103120" y="4581144"/>
            <a:ext cx="822960" cy="667512"/>
          </a:xfrm>
          <a:prstGeom prst="line">
            <a:avLst/>
          </a:prstGeom>
          <a:noFill/>
          <a:ln w="25400">
            <a:solidFill>
              <a:srgbClr val="8A9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4581144"/>
            <a:ext cx="822960" cy="667512"/>
          </a:xfrm>
          <a:prstGeom prst="line">
            <a:avLst/>
          </a:prstGeom>
          <a:noFill/>
          <a:ln w="25400">
            <a:solidFill>
              <a:srgbClr val="8A9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4663440" y="4581144"/>
            <a:ext cx="822960" cy="667512"/>
          </a:xfrm>
          <a:prstGeom prst="line">
            <a:avLst/>
          </a:prstGeom>
          <a:noFill/>
          <a:ln w="25400">
            <a:solidFill>
              <a:srgbClr val="8A9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4581144"/>
            <a:ext cx="822960" cy="667512"/>
          </a:xfrm>
          <a:prstGeom prst="line">
            <a:avLst/>
          </a:prstGeom>
          <a:noFill/>
          <a:ln w="25400">
            <a:solidFill>
              <a:srgbClr val="8A9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51576" y="1911096"/>
            <a:ext cx="566928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9050">
            <a:solidFill>
              <a:srgbClr val="F2B705"/>
            </a:solidFill>
            <a:prstDash val="solid"/>
          </a:ln>
          <a:effectLst>
            <a:outerShdw sx="100000" sy="100000" kx="0" ky="0" algn="bl" rotWithShape="0" blurRad="50800" dist="25400" dir="5400000">
              <a:srgbClr val="10142E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51576" y="191109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922776" y="3008376"/>
            <a:ext cx="566928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9050">
            <a:solidFill>
              <a:srgbClr val="F2B705"/>
            </a:solidFill>
            <a:prstDash val="solid"/>
          </a:ln>
          <a:effectLst>
            <a:outerShdw sx="100000" sy="100000" kx="0" ky="0" algn="bl" rotWithShape="0" blurRad="50800" dist="25400" dir="5400000">
              <a:srgbClr val="10142E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22776" y="300837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11896" y="3008376"/>
            <a:ext cx="56692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0142E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11896" y="300837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642616" y="4105656"/>
            <a:ext cx="566928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9050">
            <a:solidFill>
              <a:srgbClr val="F2B705"/>
            </a:solidFill>
            <a:prstDash val="solid"/>
          </a:ln>
          <a:effectLst>
            <a:outerShdw sx="100000" sy="100000" kx="0" ky="0" algn="bl" rotWithShape="0" blurRad="50800" dist="25400" dir="5400000">
              <a:srgbClr val="10142E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42616" y="410565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202936" y="4105656"/>
            <a:ext cx="566928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9050">
            <a:solidFill>
              <a:srgbClr val="F2B705"/>
            </a:solidFill>
            <a:prstDash val="solid"/>
          </a:ln>
          <a:effectLst>
            <a:outerShdw sx="100000" sy="100000" kx="0" ky="0" algn="bl" rotWithShape="0" blurRad="50800" dist="25400" dir="5400000">
              <a:srgbClr val="10142E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02936" y="410565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819656" y="5248656"/>
            <a:ext cx="56692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0142E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819656" y="524865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465576" y="5248656"/>
            <a:ext cx="56692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0142E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65576" y="524865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379976" y="5248656"/>
            <a:ext cx="56692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0142E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79976" y="524865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025896" y="5248656"/>
            <a:ext cx="56692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0142E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25896" y="5248656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144000" y="507492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5548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(Internal Node)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00" y="5486400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5440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 (Leaf Node)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การออกแบบ Algorithm A และ Algorithm 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548640" cy="4114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5212080" cy="4297680"/>
          </a:xfrm>
          <a:prstGeom prst="roundRect">
            <a:avLst>
              <a:gd name="adj" fmla="val 297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7568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35C7B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0756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Postfix Build Tree</a:t>
            </a:r>
            <a:endParaRPr lang="en-US" sz="22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Stack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96112" y="361188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วนลูปอ่าน Token จากซ้ายไปขวา หากพบ Operand ให้สร้าง Node แล้ว Push ลง Stack หากพบ Operator ให้ Pop ออกมา 2 โหนดเพื่อเชื่อมเป็นลูกขวาและลูกซ้ายตามลำดับ แล้ว Push โหนด Operator กลับลง Stack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577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5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ลักษณะ: Iterative  ·  ใช้ Stack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783080"/>
            <a:ext cx="5212080" cy="42976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11112" y="207568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9636B"/>
          </a:solidFill>
          <a:ln/>
        </p:spPr>
      </p:sp>
      <p:sp>
        <p:nvSpPr>
          <p:cNvPr id="13" name="Text 11"/>
          <p:cNvSpPr/>
          <p:nvPr/>
        </p:nvSpPr>
        <p:spPr>
          <a:xfrm>
            <a:off x="6611112" y="207568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1112" y="2697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Prefix Build Tree</a:t>
            </a:r>
            <a:endParaRPr lang="en-US" sz="22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Recursion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11112" y="361188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 Token จากซ้ายไปขวา ใช้การเรียกตัวเอง (Recursion) โดยสร้าง Root Node ก่อน แล้วส่งต่อไปสร้าง Subtree ฝั่งซ้ายและฝั่งขวาตามลำดับ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11112" y="5577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9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ลักษณะ: Recursive  ·  ใช้ Call Stack ของระบบ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· ALGORITHM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BUILD_TREE_POSTFIX (ใช้ Stack)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949440" cy="4480560"/>
          </a:xfrm>
          <a:prstGeom prst="roundRect">
            <a:avLst>
              <a:gd name="adj" fmla="val 2041"/>
            </a:avLst>
          </a:prstGeom>
          <a:solidFill>
            <a:srgbClr val="141A45"/>
          </a:solidFill>
          <a:ln w="19050">
            <a:solidFill>
              <a:srgbClr val="35C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6400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BUILD_TREE_POSTFIX(tokens):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stack = NEW Stack()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token IN tokens DO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= NEW Node(token)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node.isOperator() THEN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node.right = stack.pop()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node.left  = stack.pop()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stack.push(node)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FOR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stack.pop()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909560" y="1828800"/>
            <a:ext cx="365760" cy="365760"/>
          </a:xfrm>
          <a:prstGeom prst="ellipse">
            <a:avLst/>
          </a:prstGeom>
          <a:solidFill>
            <a:srgbClr val="35C7B8"/>
          </a:solidFill>
          <a:ln/>
        </p:spPr>
      </p:sp>
      <p:sp>
        <p:nvSpPr>
          <p:cNvPr id="7" name="Text 5"/>
          <p:cNvSpPr/>
          <p:nvPr/>
        </p:nvSpPr>
        <p:spPr>
          <a:xfrm>
            <a:off x="790956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1783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 → สร้าง Node แล้ว Push ลง Stack ทันที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9560" y="3246120"/>
            <a:ext cx="365760" cy="365760"/>
          </a:xfrm>
          <a:prstGeom prst="ellipse">
            <a:avLst/>
          </a:prstGeom>
          <a:solidFill>
            <a:srgbClr val="35C7B8"/>
          </a:solidFill>
          <a:ln/>
        </p:spPr>
      </p:sp>
      <p:sp>
        <p:nvSpPr>
          <p:cNvPr id="10" name="Text 8"/>
          <p:cNvSpPr/>
          <p:nvPr/>
        </p:nvSpPr>
        <p:spPr>
          <a:xfrm>
            <a:off x="790956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0" y="3200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→ Pop 2 โหนดล่าสุด (right ก่อน, left ทีหลัง)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09560" y="4663440"/>
            <a:ext cx="365760" cy="365760"/>
          </a:xfrm>
          <a:prstGeom prst="ellipse">
            <a:avLst/>
          </a:prstGeom>
          <a:solidFill>
            <a:srgbClr val="35C7B8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46177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จบการวนลูป Stack จะเหลือ Root Node เพียงตัวเดียว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· ALGORITHM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BUILD_TREE_PREFIX (ใช้ Recursion)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949440" cy="4480560"/>
          </a:xfrm>
          <a:prstGeom prst="roundRect">
            <a:avLst>
              <a:gd name="adj" fmla="val 2041"/>
            </a:avLst>
          </a:prstGeom>
          <a:solidFill>
            <a:srgbClr val="141A45"/>
          </a:solidFill>
          <a:ln w="19050">
            <a:solidFill>
              <a:srgbClr val="F963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index = 0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BUILD_TREE_PREFIX(tokens):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index &gt;= tokens.length THEN RETURN null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token = tokens[index]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 = index + 1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 = NEW Node(token)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node.isOperator() THEN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node.left  = BUILD_TREE_PREFIX(tokens)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node.right = BUILD_TREE_PREFIX(tokens)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09560" y="1828800"/>
            <a:ext cx="365760" cy="365760"/>
          </a:xfrm>
          <a:prstGeom prst="ellipse">
            <a:avLst/>
          </a:prstGeom>
          <a:solidFill>
            <a:srgbClr val="F9636B"/>
          </a:solidFill>
          <a:ln/>
        </p:spPr>
      </p:sp>
      <p:sp>
        <p:nvSpPr>
          <p:cNvPr id="7" name="Text 5"/>
          <p:cNvSpPr/>
          <p:nvPr/>
        </p:nvSpPr>
        <p:spPr>
          <a:xfrm>
            <a:off x="790956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1783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ใช้ตัวแปร index แบบ Global เพื่อติดตามตำแหน่ง Token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9560" y="3246120"/>
            <a:ext cx="365760" cy="365760"/>
          </a:xfrm>
          <a:prstGeom prst="ellipse">
            <a:avLst/>
          </a:prstGeom>
          <a:solidFill>
            <a:srgbClr val="F9636B"/>
          </a:solidFill>
          <a:ln/>
        </p:spPr>
      </p:sp>
      <p:sp>
        <p:nvSpPr>
          <p:cNvPr id="10" name="Text 8"/>
          <p:cNvSpPr/>
          <p:nvPr/>
        </p:nvSpPr>
        <p:spPr>
          <a:xfrm>
            <a:off x="790956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0" y="3200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Root Node ก่อน แล้วเรียกซ้ำสร้าง Subtree ซ้าย-ขวา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09560" y="4663440"/>
            <a:ext cx="365760" cy="365760"/>
          </a:xfrm>
          <a:prstGeom prst="ellipse">
            <a:avLst/>
          </a:prstGeom>
          <a:solidFill>
            <a:srgbClr val="F9636B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46177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ความลึกของ Recursion เท่ากับความสูงของ Tree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A: Postfix 8 2 + 9 5 - * 2 /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548640" cy="4114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1088136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6916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STATE / RESULT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10881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7568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207568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0756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Stack: [8]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532888"/>
            <a:ext cx="10881360" cy="457200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3288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253288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25328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Stack: [8, 2]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990088"/>
            <a:ext cx="10881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9008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99008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29900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2(R), Pop 8(L) → (+)  →  Stack: [(+)]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447288"/>
            <a:ext cx="10881360" cy="457200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4728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344728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0" y="34472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Stack: [(+), 9]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3904488"/>
            <a:ext cx="10881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0448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17320" y="390448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3904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Stack: [(+), 9, 5]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361688"/>
            <a:ext cx="10881360" cy="457200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36168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17320" y="436168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-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108960" y="43616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5(R), Pop 9(L) → (-)  →  Stack: [(+), (-)]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818888"/>
            <a:ext cx="10881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81888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417320" y="481888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*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108960" y="48188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(-)(R), Pop (+)(L) → (*)  →  Stack: [(*)]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5276088"/>
            <a:ext cx="10881360" cy="457200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527608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17320" y="527608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108960" y="52760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Stack: [(*), 2]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5733288"/>
            <a:ext cx="10881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573328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417320" y="573328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/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108960" y="57332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2(R), Pop (*)(L) → (/)  →  Stack: [(/)]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0080" y="6190488"/>
            <a:ext cx="10881360" cy="457200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619048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417320" y="619048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108960" y="6190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(/) คืนค่าเป็น Root Node สมบูรณ์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การอธิบาย Correctness และ Invariants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41A45"/>
          </a:solidFill>
          <a:ln w="15240">
            <a:solidFill>
              <a:srgbClr val="F2B7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INVARIANT — Algorithm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ทุกขั้นตอนที่เสร็จการทำงาน ทุกโหนดที่อยู่ใน Stack จะต้องเป็น Root Node ของ Subtree ที่ถูกต้องตามลำดับนิพจน์ Postfix เสมอ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STRUCTURE INVARIANTS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26306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4069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Leaf Node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ทุกโหนดที่เป็น Leaf ต้องเป็น Operand (ตัวเลข) เสมอ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79476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26306E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0" y="4069080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23760" y="4069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Node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470916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ทุกโหนดที่เป็น Internal ต้องเป็น Operator และมี Subtree ลูกครบทั้งสองฝั่ง (Full Binary Tree)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การวิเคราะห์ Time Complexity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548640" cy="4114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3429000" cy="356616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94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Tree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5786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 &amp; 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5C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914400" y="4297680"/>
            <a:ext cx="28803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3484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คือจำนวน Token ทั้งหมดในนิพจน์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429000" cy="356616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194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63440" y="25786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คำนวณผลลัพธ์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310896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4600" dirty="0"/>
          </a:p>
        </p:txBody>
      </p:sp>
      <p:sp>
        <p:nvSpPr>
          <p:cNvPr id="15" name="Shape 13"/>
          <p:cNvSpPr/>
          <p:nvPr/>
        </p:nvSpPr>
        <p:spPr>
          <a:xfrm>
            <a:off x="4663440" y="4297680"/>
            <a:ext cx="28803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43484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 Visit ทุกโหนดเพื่อคำนวณผล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1920240"/>
            <a:ext cx="3429000" cy="356616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0" y="2194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Traversal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12480" y="25786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/ Pre / Post Order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310896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9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4600" dirty="0"/>
          </a:p>
        </p:txBody>
      </p:sp>
      <p:sp>
        <p:nvSpPr>
          <p:cNvPr id="21" name="Shape 19"/>
          <p:cNvSpPr/>
          <p:nvPr/>
        </p:nvSpPr>
        <p:spPr>
          <a:xfrm>
            <a:off x="8412480" y="4297680"/>
            <a:ext cx="28803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443484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ท่องผ่านทุกโหนด โหนดละ 1 ครั้ง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การวิเคราะห์ Space Complexity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251960"/>
          </a:xfrm>
          <a:prstGeom prst="roundRect">
            <a:avLst>
              <a:gd name="adj" fmla="val 3011"/>
            </a:avLst>
          </a:prstGeom>
          <a:solidFill>
            <a:srgbClr val="141A45"/>
          </a:solidFill>
          <a:ln w="19050">
            <a:solidFill>
              <a:srgbClr val="35C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MEMORY SPACE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สำหรับการสร้างและเก็บ N Nodes ในหน่วยความจำ Heap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212080" cy="4251960"/>
          </a:xfrm>
          <a:prstGeom prst="roundRect">
            <a:avLst>
              <a:gd name="adj" fmla="val 3011"/>
            </a:avLst>
          </a:prstGeom>
          <a:solidFill>
            <a:srgbClr val="141A45"/>
          </a:solidFill>
          <a:ln w="19050">
            <a:solidFill>
              <a:srgbClr val="F963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SPACE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29400" y="24231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O(H)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629400" y="3429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คือความสูงของ Tree (Height)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397764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26306E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 (Balanced Tree)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72600" y="4023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5C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2280" y="4370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(Skewed Tree)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72600" y="43708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การพัฒนาโปรแกรม Java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548640" cy="4114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10312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63724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35C7B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637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2677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Node.java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6974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นิยาม Class และสถานะ isOperator()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3826764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F2B705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2676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37307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ExpressionTree.java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41605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เก็บวิธีสร้างและประมวลผล Tree (buildFromPostfix, evaluate, printInfix ฯลฯ)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5289804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F9636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28980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51937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56235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จุดเริ่มต้นการทำงานและทดสอบคำนวณผลลัพธ์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จัดทำ Test Cases (8 กรณีทดสอบ)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41148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1737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0" y="17373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10881360" cy="512064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4884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Operand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63440" y="214884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509760" y="2148840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660904"/>
            <a:ext cx="10881360" cy="5120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6090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Addition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63440" y="2660904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4 +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509760" y="2660904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172968"/>
            <a:ext cx="10881360" cy="512064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7296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Precedence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317296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4 2 * +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509760" y="317296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685032"/>
            <a:ext cx="10881360" cy="5120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8503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Case 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63440" y="368503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2 + 9 5 - * 2 /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509760" y="3685032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20.0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197096"/>
            <a:ext cx="10881360" cy="512064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19709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Subtraction &amp; Negative Result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63440" y="4197096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5 - 3 *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509760" y="4197096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-15.0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709160"/>
            <a:ext cx="10881360" cy="5120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70916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with Decimal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663440" y="470916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2 /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509760" y="4709160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5221224"/>
            <a:ext cx="10881360" cy="512064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22122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Expression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663440" y="5221224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+ 3 4 + *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509760" y="5221224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21.0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5733288"/>
            <a:ext cx="10881360" cy="5120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73328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Numbers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663440" y="573328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100 200 + 50 *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509760" y="5733288"/>
            <a:ext cx="1965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15000.0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Cases (3 กรณีขอบเขต)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548640" cy="4114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63140"/>
            <a:ext cx="548640" cy="548640"/>
          </a:xfrm>
          <a:prstGeom prst="ellipse">
            <a:avLst/>
          </a:prstGeom>
          <a:solidFill>
            <a:srgbClr val="F9636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631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1993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by Zero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432304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ตัวหารมีค่าเป็น 0  (5 0 /)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2011680"/>
            <a:ext cx="0" cy="105156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9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STRATEGY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คืนค่า Infinity ตามมาตรฐานประเภทข้อมูล Double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909060"/>
            <a:ext cx="548640" cy="548640"/>
          </a:xfrm>
          <a:prstGeom prst="ellipse">
            <a:avLst/>
          </a:prstGeom>
          <a:solidFill>
            <a:srgbClr val="35C7B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090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36393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Node Tree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078224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นิพจน์มีเฉพาะเลขตัวเดียว (9)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0" y="3657600"/>
            <a:ext cx="0" cy="105156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6758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5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STRATEGY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39776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ระบบประมวลผลคืนค่าตัวเลขทันทีโดยไม่ต้องเข้า Subtree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5554980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5549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91640" y="528523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Highly Skewed Tree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91640" y="5724144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นิพจน์เอียงไปฝั่งเดียวอย่างยาว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0" y="5303520"/>
            <a:ext cx="0" cy="105156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53218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STRATEGY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5623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ประมวลผลผ่าน Iterative Stack เพื่อป้องกันการเกิด StackOverflowError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การทดลองด้วยข้อมูลหลายขนาด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55080" y="1737360"/>
          <a:ext cx="5212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สรุปผลและข้อเสนอแนะ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548640" cy="4114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EF1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จากการทดลอง เวลาในการประมวลผลเพิ่มขึ้นแบบเชิงเส้นตามจำนวน Token (N) ซึ่งสอดคล้องกับ Time Complexity เชิงทฤษฎีระดับ O(N) อย่างแน่นอน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ใดเหมาะสมกว่าในสถานการณ์ใด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212080" cy="288036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90448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เหมาะสำหรับ Production System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Iterative Loop ทำให้ไม่เกิดความเสี่ยงเรื่อง StackOverflowError แม้ว่า Tree จะมีความลึกมาก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55080" y="3337560"/>
            <a:ext cx="521208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390448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เหมาะสำหรับการศึกษา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45720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เหมาะสำหรับนิพจน์ที่มีขนาดเล็กและแน่นอน เนื่องจากเขียนได้สั้น กระชับ และทำความเข้าใจง่ายกว่า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2026-09-12T07:35:55Z</dcterms:created>
  <dcterms:modified xsi:type="dcterms:W3CDTF">2026-09-12T07:35:55Z</dcterms:modified>
</cp:coreProperties>
</file>